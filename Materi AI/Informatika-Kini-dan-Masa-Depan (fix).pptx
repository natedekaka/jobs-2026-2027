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14.fntdata" ContentType="application/x-fontdata"/>
  <Override PartName="/ppt/fonts/font15.fntdata" ContentType="application/x-fontdata"/>
  <Override PartName="/ppt/fonts/font16.fntdata" ContentType="application/x-fontdata"/>
  <Override PartName="/ppt/fonts/font17.fntdata" ContentType="application/x-fontdata"/>
  <Override PartName="/ppt/fonts/font18.fntdata" ContentType="application/x-fontdata"/>
  <Override PartName="/ppt/fonts/font19.fntdata" ContentType="application/x-fontdata"/>
  <Override PartName="/ppt/fonts/font2.fntdata" ContentType="application/x-fontdata"/>
  <Override PartName="/ppt/fonts/font20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9.svg" ContentType="image/svg+xml"/>
  <Override PartName="/ppt/media/image34.svg" ContentType="image/svg+xml"/>
  <Override PartName="/ppt/media/image36.svg" ContentType="image/svg+xml"/>
  <Override PartName="/ppt/media/image38.svg" ContentType="image/svg+xml"/>
  <Override PartName="/ppt/media/image4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</p:sldIdLst>
  <p:sldSz cx="9144000" cy="5143500"/>
  <p:notesSz cx="5143500" cy="9144000"/>
  <p:embeddedFontLst>
    <p:embeddedFont>
      <p:font typeface="Raleway" pitchFamily="34" charset="0"/>
      <p:regular r:id="rId28"/>
    </p:embeddedFont>
    <p:embeddedFont>
      <p:font typeface="Raleway" pitchFamily="34" charset="-122"/>
      <p:regular r:id="rId29"/>
    </p:embeddedFont>
    <p:embeddedFont>
      <p:font typeface="Raleway" pitchFamily="34" charset="-120"/>
      <p:regular r:id="rId30"/>
    </p:embeddedFont>
    <p:embeddedFont>
      <p:font typeface="Roboto" panose="02000000000000000000" pitchFamily="34" charset="0"/>
      <p:regular r:id="rId31"/>
    </p:embeddedFont>
    <p:embeddedFont>
      <p:font typeface="Roboto" panose="02000000000000000000" pitchFamily="34" charset="-122"/>
      <p:regular r:id="rId32"/>
    </p:embeddedFont>
    <p:embeddedFont>
      <p:font typeface="Roboto" panose="02000000000000000000" pitchFamily="34" charset="-120"/>
      <p:regular r:id="rId33"/>
    </p:embeddedFont>
    <p:embeddedFont>
      <p:font typeface="Roboto Bold" panose="02000000000000000000" pitchFamily="34" charset="0"/>
      <p:bold r:id="rId34"/>
    </p:embeddedFont>
    <p:embeddedFont>
      <p:font typeface="Roboto Bold" panose="02000000000000000000" pitchFamily="34" charset="-122"/>
      <p:bold r:id="rId35"/>
    </p:embeddedFont>
    <p:embeddedFont>
      <p:font typeface="Roboto Bold" panose="02000000000000000000" pitchFamily="34" charset="-120"/>
      <p:bold r:id="rId36"/>
    </p:embeddedFont>
    <p:embeddedFont>
      <p:font typeface="Raleway Light" pitchFamily="34" charset="0"/>
      <p:regular r:id="rId37"/>
    </p:embeddedFont>
    <p:embeddedFont>
      <p:font typeface="Raleway Light" pitchFamily="34" charset="-122"/>
      <p:regular r:id="rId38"/>
    </p:embeddedFont>
    <p:embeddedFont>
      <p:font typeface="Raleway Light" pitchFamily="34" charset="-120"/>
      <p:regular r:id="rId39"/>
    </p:embeddedFont>
    <p:embeddedFont>
      <p:font typeface="Calibri" panose="020F0502020204030204" charset="0"/>
      <p:regular r:id="rId40"/>
      <p:bold r:id="rId41"/>
      <p:italic r:id="rId42"/>
      <p:boldItalic r:id="rId43"/>
    </p:embeddedFont>
    <p:embeddedFont>
      <p:font typeface="Book Antiqua" panose="02040602050305030304" charset="0"/>
      <p:regular r:id="rId44"/>
      <p:bold r:id="rId45"/>
      <p:italic r:id="rId46"/>
      <p:boldItalic r:id="rId4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7" Type="http://schemas.openxmlformats.org/officeDocument/2006/relationships/font" Target="fonts/font20.fntdata"/><Relationship Id="rId46" Type="http://schemas.openxmlformats.org/officeDocument/2006/relationships/font" Target="fonts/font19.fntdata"/><Relationship Id="rId45" Type="http://schemas.openxmlformats.org/officeDocument/2006/relationships/font" Target="fonts/font18.fntdata"/><Relationship Id="rId44" Type="http://schemas.openxmlformats.org/officeDocument/2006/relationships/font" Target="fonts/font17.fntdata"/><Relationship Id="rId43" Type="http://schemas.openxmlformats.org/officeDocument/2006/relationships/font" Target="fonts/font16.fntdata"/><Relationship Id="rId42" Type="http://schemas.openxmlformats.org/officeDocument/2006/relationships/font" Target="fonts/font15.fntdata"/><Relationship Id="rId41" Type="http://schemas.openxmlformats.org/officeDocument/2006/relationships/font" Target="fonts/font14.fntdata"/><Relationship Id="rId40" Type="http://schemas.openxmlformats.org/officeDocument/2006/relationships/font" Target="fonts/font13.fntdata"/><Relationship Id="rId4" Type="http://schemas.openxmlformats.org/officeDocument/2006/relationships/notesMaster" Target="notesMasters/notesMaster1.xml"/><Relationship Id="rId39" Type="http://schemas.openxmlformats.org/officeDocument/2006/relationships/font" Target="fonts/font12.fntdata"/><Relationship Id="rId38" Type="http://schemas.openxmlformats.org/officeDocument/2006/relationships/font" Target="fonts/font11.fntdata"/><Relationship Id="rId37" Type="http://schemas.openxmlformats.org/officeDocument/2006/relationships/font" Target="fonts/font10.fntdata"/><Relationship Id="rId36" Type="http://schemas.openxmlformats.org/officeDocument/2006/relationships/font" Target="fonts/font9.fntdata"/><Relationship Id="rId35" Type="http://schemas.openxmlformats.org/officeDocument/2006/relationships/font" Target="fonts/font8.fntdata"/><Relationship Id="rId34" Type="http://schemas.openxmlformats.org/officeDocument/2006/relationships/font" Target="fonts/font7.fntdata"/><Relationship Id="rId33" Type="http://schemas.openxmlformats.org/officeDocument/2006/relationships/font" Target="fonts/font6.fntdata"/><Relationship Id="rId32" Type="http://schemas.openxmlformats.org/officeDocument/2006/relationships/font" Target="fonts/font5.fntdata"/><Relationship Id="rId31" Type="http://schemas.openxmlformats.org/officeDocument/2006/relationships/font" Target="fonts/font4.fntdata"/><Relationship Id="rId30" Type="http://schemas.openxmlformats.org/officeDocument/2006/relationships/font" Target="fonts/font3.fntdata"/><Relationship Id="rId3" Type="http://schemas.openxmlformats.org/officeDocument/2006/relationships/slide" Target="slides/slide1.xml"/><Relationship Id="rId29" Type="http://schemas.openxmlformats.org/officeDocument/2006/relationships/font" Target="fonts/font2.fntdata"/><Relationship Id="rId28" Type="http://schemas.openxmlformats.org/officeDocument/2006/relationships/font" Target="fonts/font1.fntdata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jpe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4.jpeg"/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image" Target="../media/image1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jpe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26.svg"/><Relationship Id="rId7" Type="http://schemas.openxmlformats.org/officeDocument/2006/relationships/image" Target="../media/image25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Relationship Id="rId3" Type="http://schemas.openxmlformats.org/officeDocument/2006/relationships/image" Target="../media/image21.png"/><Relationship Id="rId2" Type="http://schemas.openxmlformats.org/officeDocument/2006/relationships/image" Target="../media/image20.svg"/><Relationship Id="rId10" Type="http://schemas.openxmlformats.org/officeDocument/2006/relationships/notesSlide" Target="../notesSlides/notesSlide12.xml"/><Relationship Id="rId1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" Type="http://schemas.openxmlformats.org/officeDocument/2006/relationships/image" Target="../media/image27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1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2.jpe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7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38.svg"/><Relationship Id="rId5" Type="http://schemas.openxmlformats.org/officeDocument/2006/relationships/image" Target="../media/image37.png"/><Relationship Id="rId4" Type="http://schemas.openxmlformats.org/officeDocument/2006/relationships/image" Target="../media/image36.svg"/><Relationship Id="rId3" Type="http://schemas.openxmlformats.org/officeDocument/2006/relationships/image" Target="../media/image35.png"/><Relationship Id="rId2" Type="http://schemas.openxmlformats.org/officeDocument/2006/relationships/image" Target="../media/image34.svg"/><Relationship Id="rId1" Type="http://schemas.openxmlformats.org/officeDocument/2006/relationships/image" Target="../media/image3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9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1.jpe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795611"/>
            <a:ext cx="4722763" cy="88597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Informatika Kini dan Masa Depan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894186"/>
            <a:ext cx="4722763" cy="4536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Menjelajahi dunia teknologi informasi — dari era digital saat ini hingga cakrawala masa depan yang penuh kemungkinan.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626641"/>
            <a:ext cx="4722763" cy="4429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Tujuan Pembelajaran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1282229"/>
            <a:ext cx="5179963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Peserta didik mampu:</a:t>
            </a:r>
            <a:endParaRPr lang="en-US" sz="11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668512"/>
            <a:ext cx="4722763" cy="85494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89967" y="1963043"/>
            <a:ext cx="212601" cy="26580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1650" dirty="0"/>
          </a:p>
        </p:txBody>
      </p:sp>
      <p:sp>
        <p:nvSpPr>
          <p:cNvPr id="7" name="Text 3"/>
          <p:cNvSpPr/>
          <p:nvPr/>
        </p:nvSpPr>
        <p:spPr>
          <a:xfrm>
            <a:off x="1223963" y="1829321"/>
            <a:ext cx="3834110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Menjelaskan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1223963" y="2135832"/>
            <a:ext cx="3834110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Perkembangan teknologi informatika masa kini.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2665214"/>
            <a:ext cx="4722763" cy="85494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89967" y="2959745"/>
            <a:ext cx="212601" cy="26580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1650" dirty="0"/>
          </a:p>
        </p:txBody>
      </p:sp>
      <p:sp>
        <p:nvSpPr>
          <p:cNvPr id="11" name="Text 6"/>
          <p:cNvSpPr/>
          <p:nvPr/>
        </p:nvSpPr>
        <p:spPr>
          <a:xfrm>
            <a:off x="1223963" y="2826023"/>
            <a:ext cx="3834110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Menganalisis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1223963" y="3132534"/>
            <a:ext cx="3834110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Dampak perkembangan informatika terhadap kehidupan.</a:t>
            </a:r>
            <a:endParaRPr lang="en-US" sz="11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3661916"/>
            <a:ext cx="4722763" cy="85494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89967" y="3956447"/>
            <a:ext cx="212601" cy="26580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1650" dirty="0"/>
          </a:p>
        </p:txBody>
      </p:sp>
      <p:sp>
        <p:nvSpPr>
          <p:cNvPr id="15" name="Text 9"/>
          <p:cNvSpPr/>
          <p:nvPr/>
        </p:nvSpPr>
        <p:spPr>
          <a:xfrm>
            <a:off x="1223963" y="3822725"/>
            <a:ext cx="3834110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Mengidentifikasi</a:t>
            </a:r>
            <a:endParaRPr lang="en-US" sz="1350" dirty="0"/>
          </a:p>
        </p:txBody>
      </p:sp>
      <p:sp>
        <p:nvSpPr>
          <p:cNvPr id="16" name="Text 10"/>
          <p:cNvSpPr/>
          <p:nvPr/>
        </p:nvSpPr>
        <p:spPr>
          <a:xfrm>
            <a:off x="1223963" y="4129236"/>
            <a:ext cx="3834110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Tren teknologi masa depan dan peluang/tantangannya.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925119" y="1659582"/>
            <a:ext cx="679921" cy="215354"/>
          </a:xfrm>
          <a:prstGeom prst="roundRect">
            <a:avLst>
              <a:gd name="adj" fmla="val 22119"/>
            </a:avLst>
          </a:prstGeom>
          <a:solidFill>
            <a:srgbClr val="E1E1EA"/>
          </a:solidFill>
        </p:spPr>
      </p:sp>
      <p:sp>
        <p:nvSpPr>
          <p:cNvPr id="4" name="Text 1"/>
          <p:cNvSpPr/>
          <p:nvPr/>
        </p:nvSpPr>
        <p:spPr>
          <a:xfrm>
            <a:off x="4010174" y="1702073"/>
            <a:ext cx="967011" cy="13037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BAGIAN A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3925119" y="1931640"/>
            <a:ext cx="4722763" cy="88597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Pengantar Informatika Masa Kini</a:t>
            </a:r>
            <a:endParaRPr lang="en-US" sz="2750" dirty="0"/>
          </a:p>
        </p:txBody>
      </p:sp>
      <p:sp>
        <p:nvSpPr>
          <p:cNvPr id="6" name="Text 3"/>
          <p:cNvSpPr/>
          <p:nvPr/>
        </p:nvSpPr>
        <p:spPr>
          <a:xfrm>
            <a:off x="3925119" y="3030215"/>
            <a:ext cx="4722763" cy="4536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Memahami bagaimana peran informatika telah berubah dan membentuk dunia kita hari ini.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17488"/>
            <a:ext cx="8151763" cy="4429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Pengertian Informatika di Era Modern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32545"/>
            <a:ext cx="5177582" cy="293392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24339" y="1756693"/>
            <a:ext cx="2628230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Perubahan Peran Komputer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6024339" y="2119908"/>
            <a:ext cx="2628230" cy="73000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3C3939"/>
                </a:solidFill>
                <a:latin typeface="Roboto Bold" panose="02000000000000000000" pitchFamily="34" charset="0"/>
                <a:ea typeface="Roboto Bold" panose="02000000000000000000" pitchFamily="34" charset="-122"/>
                <a:cs typeface="Roboto Bold" panose="02000000000000000000" pitchFamily="34" charset="-120"/>
              </a:rPr>
              <a:t>Dulu:</a:t>
            </a:r>
            <a:r>
              <a:rPr lang="en-US" sz="11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alat hitung dan pengolah data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3C3939"/>
                </a:solidFill>
                <a:latin typeface="Roboto Bold" panose="02000000000000000000" pitchFamily="34" charset="0"/>
                <a:ea typeface="Roboto Bold" panose="02000000000000000000" pitchFamily="34" charset="-122"/>
                <a:cs typeface="Roboto Bold" panose="02000000000000000000" pitchFamily="34" charset="-120"/>
              </a:rPr>
              <a:t>Kini:</a:t>
            </a:r>
            <a:r>
              <a:rPr lang="en-US" sz="11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pusat komunikasi, otomatisasi, dan pengambilan keputusan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024339" y="2991669"/>
            <a:ext cx="2628230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Ciri Era Digital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024339" y="3354884"/>
            <a:ext cx="2628230" cy="77956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Data menjadi sumber daya penting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Konektivitas tanpa batas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Otomatisasi pekerjaan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1375246"/>
            <a:ext cx="889620" cy="215354"/>
          </a:xfrm>
          <a:prstGeom prst="roundRect">
            <a:avLst>
              <a:gd name="adj" fmla="val 22119"/>
            </a:avLst>
          </a:prstGeom>
          <a:noFill/>
          <a:ln w="4763">
            <a:solidFill>
              <a:srgbClr val="1B1B27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1174" y="1426220"/>
            <a:ext cx="113407" cy="1134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1284" y="1417737"/>
            <a:ext cx="1006599" cy="13037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1B1B27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AKTIVITAS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96119" y="1647304"/>
            <a:ext cx="8151763" cy="4429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Diskusi Pembuka</a:t>
            </a:r>
            <a:endParaRPr lang="en-US" sz="2750" dirty="0"/>
          </a:p>
        </p:txBody>
      </p:sp>
      <p:sp>
        <p:nvSpPr>
          <p:cNvPr id="6" name="Text 3"/>
          <p:cNvSpPr/>
          <p:nvPr/>
        </p:nvSpPr>
        <p:spPr>
          <a:xfrm>
            <a:off x="708720" y="2462361"/>
            <a:ext cx="8396362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"Teknologi apa yang paling mengubah kehidupan manusia saat ini?"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96119" y="2302892"/>
            <a:ext cx="19050" cy="545753"/>
          </a:xfrm>
          <a:prstGeom prst="roundRect">
            <a:avLst>
              <a:gd name="adj" fmla="val 50000"/>
            </a:avLst>
          </a:prstGeom>
          <a:solidFill>
            <a:srgbClr val="1B1B27"/>
          </a:solidFill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9250" y="3012504"/>
            <a:ext cx="212601" cy="21260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56816" y="3008114"/>
            <a:ext cx="3526557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Diskusikan bersama kelompok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956816" y="3314626"/>
            <a:ext cx="3526557" cy="4536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Pikirkan teknologi yang paling sering kamu gunakan setiap hari.</a:t>
            </a:r>
            <a:endParaRPr lang="en-US" sz="11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13684" y="3012504"/>
            <a:ext cx="212601" cy="21260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121250" y="3008114"/>
            <a:ext cx="3526631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Buat daftar teknologi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5121250" y="3314626"/>
            <a:ext cx="3526631" cy="4536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Catat teknologi yang digunakan sehari-hari — dari bangun tidur hingga malam hari.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925119" y="1659582"/>
            <a:ext cx="676573" cy="215354"/>
          </a:xfrm>
          <a:prstGeom prst="roundRect">
            <a:avLst>
              <a:gd name="adj" fmla="val 22119"/>
            </a:avLst>
          </a:prstGeom>
          <a:solidFill>
            <a:srgbClr val="E1E1EA"/>
          </a:solidFill>
        </p:spPr>
      </p:sp>
      <p:sp>
        <p:nvSpPr>
          <p:cNvPr id="4" name="Text 1"/>
          <p:cNvSpPr/>
          <p:nvPr/>
        </p:nvSpPr>
        <p:spPr>
          <a:xfrm>
            <a:off x="4010174" y="1702073"/>
            <a:ext cx="963662" cy="13037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BAGIAN B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3925119" y="1931640"/>
            <a:ext cx="4722763" cy="88597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Teknologi Informatika Masa Kini</a:t>
            </a:r>
            <a:endParaRPr lang="en-US" sz="2750" dirty="0"/>
          </a:p>
        </p:txBody>
      </p:sp>
      <p:sp>
        <p:nvSpPr>
          <p:cNvPr id="6" name="Text 3"/>
          <p:cNvSpPr/>
          <p:nvPr/>
        </p:nvSpPr>
        <p:spPr>
          <a:xfrm>
            <a:off x="3925119" y="3030215"/>
            <a:ext cx="4722763" cy="4536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Mengenal teknologi-teknologi yang sedang mengubah cara kita hidup, bekerja, dan berkomunikasi.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73944"/>
            <a:ext cx="8151763" cy="4429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Artificial Intelligence (AI)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800448"/>
            <a:ext cx="1104900" cy="11049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3082528"/>
            <a:ext cx="1905000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Chatbot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96119" y="3389040"/>
            <a:ext cx="1905000" cy="68044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Asisten virtual berbasis AI yang merespons pertanyaan secara otomatis.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8298" y="1800448"/>
            <a:ext cx="1104900" cy="11049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578298" y="3082528"/>
            <a:ext cx="1905074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AI Generatif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2578298" y="3389040"/>
            <a:ext cx="1905074" cy="68044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Teknologi yang mampu membuat teks, gambar, dan konten secara mandiri.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0553" y="1800448"/>
            <a:ext cx="1104900" cy="11049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660553" y="3082528"/>
            <a:ext cx="1905074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Sistem Rekomendasi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4660553" y="3389040"/>
            <a:ext cx="1905074" cy="68044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Algoritma yang menyarankan konten berdasarkan preferensi pengguna.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2807" y="1800448"/>
            <a:ext cx="1104900" cy="11049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742807" y="3082528"/>
            <a:ext cx="1905074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Pengenalan Wajah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6742807" y="3389040"/>
            <a:ext cx="1905074" cy="68044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Teknologi identifikasi identitas melalui fitur wajah secara real-time.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17488"/>
            <a:ext cx="8151763" cy="4429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Big Data &amp; Cloud Computing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441252"/>
            <a:ext cx="2628230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Big Data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119" y="1804467"/>
            <a:ext cx="2628230" cy="118363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Pengertian data besar yang dihasilkan setiap detik dari berbagai sumber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Analisis data untuk mengambil keputusan yang lebih cerdas dan akurat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96119" y="3129855"/>
            <a:ext cx="2628230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Cloud Computing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96119" y="3493071"/>
            <a:ext cx="2628230" cy="95681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Penyimpanan dan layanan berbasis internet tanpa perangkat keras lokal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Contoh penggunaan cloud: Google Drive, iCloud, layanan streaming</a:t>
            </a:r>
            <a:endParaRPr lang="en-US" sz="11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988" y="1432545"/>
            <a:ext cx="5177582" cy="293392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893043"/>
            <a:ext cx="4722763" cy="4429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Internet of Things (IoT)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3925119" y="1548631"/>
            <a:ext cx="2290465" cy="1506810"/>
          </a:xfrm>
          <a:prstGeom prst="roundRect">
            <a:avLst>
              <a:gd name="adj" fmla="val 3952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071640" y="1695152"/>
            <a:ext cx="1997422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Perangkat Terhubung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071640" y="2001664"/>
            <a:ext cx="1997422" cy="68044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Berbagai perangkat fisik yang saling berkomunikasi melalui internet secara otomatis.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357342" y="1548631"/>
            <a:ext cx="2290539" cy="1506810"/>
          </a:xfrm>
          <a:prstGeom prst="roundRect">
            <a:avLst>
              <a:gd name="adj" fmla="val 3952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03863" y="1695152"/>
            <a:ext cx="1997497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Smart Home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503863" y="2001664"/>
            <a:ext cx="1997497" cy="9072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Rumah pintar dengan lampu, AC, dan keamanan yang dikendalikan dari genggaman tangan.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925119" y="3197200"/>
            <a:ext cx="4722763" cy="1053182"/>
          </a:xfrm>
          <a:prstGeom prst="roundRect">
            <a:avLst>
              <a:gd name="adj" fmla="val 5654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071640" y="3343721"/>
            <a:ext cx="4429720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Smart City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071640" y="3650233"/>
            <a:ext cx="4429720" cy="4536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Kota cerdas dengan sistem transportasi, energi, dan layanan publik yang terintegrasi digital.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1202754"/>
            <a:ext cx="889620" cy="215354"/>
          </a:xfrm>
          <a:prstGeom prst="roundRect">
            <a:avLst>
              <a:gd name="adj" fmla="val 22119"/>
            </a:avLst>
          </a:prstGeom>
          <a:noFill/>
          <a:ln w="4763">
            <a:solidFill>
              <a:srgbClr val="1B1B27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1174" y="1253728"/>
            <a:ext cx="113407" cy="1134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1284" y="1245245"/>
            <a:ext cx="1006599" cy="13037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1B1B27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AKTIVITAS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96119" y="1474812"/>
            <a:ext cx="8151763" cy="4429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Eksplorasi Teknologi</a:t>
            </a:r>
            <a:endParaRPr lang="en-US" sz="2750" dirty="0"/>
          </a:p>
        </p:txBody>
      </p:sp>
      <p:sp>
        <p:nvSpPr>
          <p:cNvPr id="6" name="Text 3"/>
          <p:cNvSpPr/>
          <p:nvPr/>
        </p:nvSpPr>
        <p:spPr>
          <a:xfrm>
            <a:off x="496119" y="2130400"/>
            <a:ext cx="8608963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Carilah contoh penerapan AI, IoT, atau cloud dalam kehidupan sehari-hari.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96119" y="2516684"/>
            <a:ext cx="283518" cy="17718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96119" y="2738586"/>
            <a:ext cx="2622724" cy="19050"/>
          </a:xfrm>
          <a:prstGeom prst="rect">
            <a:avLst/>
          </a:prstGeom>
          <a:solidFill>
            <a:srgbClr val="1B1B27"/>
          </a:solidFill>
        </p:spPr>
      </p:sp>
      <p:sp>
        <p:nvSpPr>
          <p:cNvPr id="9" name="Text 6"/>
          <p:cNvSpPr/>
          <p:nvPr/>
        </p:nvSpPr>
        <p:spPr>
          <a:xfrm>
            <a:off x="496119" y="2847529"/>
            <a:ext cx="2622724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Pilih Teknologi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496119" y="3154040"/>
            <a:ext cx="2622724" cy="4536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Pilih salah satu: AI, IoT, atau Cloud Computing.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260601" y="2516684"/>
            <a:ext cx="283518" cy="17718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260601" y="2738586"/>
            <a:ext cx="2622724" cy="19050"/>
          </a:xfrm>
          <a:prstGeom prst="rect">
            <a:avLst/>
          </a:prstGeom>
          <a:solidFill>
            <a:srgbClr val="1B1B27"/>
          </a:solidFill>
        </p:spPr>
      </p:sp>
      <p:sp>
        <p:nvSpPr>
          <p:cNvPr id="13" name="Text 10"/>
          <p:cNvSpPr/>
          <p:nvPr/>
        </p:nvSpPr>
        <p:spPr>
          <a:xfrm>
            <a:off x="3260601" y="2847529"/>
            <a:ext cx="2622724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Cari Contoh Nyata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3260601" y="3154040"/>
            <a:ext cx="2622724" cy="68044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Temukan minimal 2 contoh penerapan teknologi tersebut dalam kehidupan sehari-hari.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025083" y="2516684"/>
            <a:ext cx="283518" cy="17718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025083" y="2738586"/>
            <a:ext cx="2622724" cy="19050"/>
          </a:xfrm>
          <a:prstGeom prst="rect">
            <a:avLst/>
          </a:prstGeom>
          <a:solidFill>
            <a:srgbClr val="1B1B27"/>
          </a:solidFill>
        </p:spPr>
      </p:sp>
      <p:sp>
        <p:nvSpPr>
          <p:cNvPr id="17" name="Text 14"/>
          <p:cNvSpPr/>
          <p:nvPr/>
        </p:nvSpPr>
        <p:spPr>
          <a:xfrm>
            <a:off x="6025083" y="2847529"/>
            <a:ext cx="2622724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Presentasikan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6025083" y="3154040"/>
            <a:ext cx="2622724" cy="4536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Jelaskan cara kerja dan manfaatnya.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925119" y="1659582"/>
            <a:ext cx="679772" cy="215354"/>
          </a:xfrm>
          <a:prstGeom prst="roundRect">
            <a:avLst>
              <a:gd name="adj" fmla="val 22119"/>
            </a:avLst>
          </a:prstGeom>
          <a:solidFill>
            <a:srgbClr val="E1E1EA"/>
          </a:solidFill>
        </p:spPr>
      </p:sp>
      <p:sp>
        <p:nvSpPr>
          <p:cNvPr id="4" name="Text 1"/>
          <p:cNvSpPr/>
          <p:nvPr/>
        </p:nvSpPr>
        <p:spPr>
          <a:xfrm>
            <a:off x="4010174" y="1702073"/>
            <a:ext cx="966862" cy="13037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BAGIAN C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3925119" y="1931640"/>
            <a:ext cx="4722763" cy="88597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Dampak Perkembangan Informatika</a:t>
            </a:r>
            <a:endParaRPr lang="en-US" sz="2750" dirty="0"/>
          </a:p>
        </p:txBody>
      </p:sp>
      <p:sp>
        <p:nvSpPr>
          <p:cNvPr id="6" name="Text 3"/>
          <p:cNvSpPr/>
          <p:nvPr/>
        </p:nvSpPr>
        <p:spPr>
          <a:xfrm>
            <a:off x="3925119" y="3030215"/>
            <a:ext cx="4722763" cy="4536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Teknologi membawa perubahan besar — baik yang menguntungkan maupun yang perlu diwaspadai.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17401"/>
            <a:ext cx="8151763" cy="4429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Dampak Positif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243905"/>
            <a:ext cx="4004965" cy="1620217"/>
          </a:xfrm>
          <a:prstGeom prst="roundRect">
            <a:avLst>
              <a:gd name="adj" fmla="val 3675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2640" y="1390427"/>
            <a:ext cx="425276" cy="425276"/>
          </a:xfrm>
          <a:prstGeom prst="ellipse">
            <a:avLst/>
          </a:prstGeom>
          <a:solidFill>
            <a:srgbClr val="1B1B27"/>
          </a:solidFill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59619" y="1507331"/>
            <a:ext cx="191319" cy="19131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2640" y="1957462"/>
            <a:ext cx="3711922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Komunikasi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42640" y="2263973"/>
            <a:ext cx="3711922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Mempermudah komunikasi lintas jarak dan waktu.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642842" y="1243905"/>
            <a:ext cx="4005039" cy="1620217"/>
          </a:xfrm>
          <a:prstGeom prst="roundRect">
            <a:avLst>
              <a:gd name="adj" fmla="val 3675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789363" y="1390427"/>
            <a:ext cx="425276" cy="425276"/>
          </a:xfrm>
          <a:prstGeom prst="ellipse">
            <a:avLst/>
          </a:prstGeom>
          <a:solidFill>
            <a:srgbClr val="1B1B27"/>
          </a:solidFill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06342" y="1507331"/>
            <a:ext cx="191319" cy="19131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789363" y="1957462"/>
            <a:ext cx="3711997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Efisiensi Kerja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4789363" y="2263973"/>
            <a:ext cx="3711997" cy="4536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Meningkatkan efisiensi dan produktivitas di berbagai bidang pekerjaan.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96119" y="3005882"/>
            <a:ext cx="4004965" cy="1620217"/>
          </a:xfrm>
          <a:prstGeom prst="roundRect">
            <a:avLst>
              <a:gd name="adj" fmla="val 3675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42640" y="3152403"/>
            <a:ext cx="425276" cy="425276"/>
          </a:xfrm>
          <a:prstGeom prst="ellipse">
            <a:avLst/>
          </a:prstGeom>
          <a:solidFill>
            <a:srgbClr val="1B1B27"/>
          </a:solidFill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59619" y="3269307"/>
            <a:ext cx="191319" cy="19131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42640" y="3719438"/>
            <a:ext cx="3711922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Pendidikan &amp; Kesehatan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642640" y="4025950"/>
            <a:ext cx="3711922" cy="4536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Membantu akses pendidikan dan layanan kesehatan yang lebih luas.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642842" y="3005882"/>
            <a:ext cx="4005039" cy="1620217"/>
          </a:xfrm>
          <a:prstGeom prst="roundRect">
            <a:avLst>
              <a:gd name="adj" fmla="val 3675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789363" y="3152403"/>
            <a:ext cx="425276" cy="425276"/>
          </a:xfrm>
          <a:prstGeom prst="ellipse">
            <a:avLst/>
          </a:prstGeom>
          <a:solidFill>
            <a:srgbClr val="1B1B27"/>
          </a:solidFill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06342" y="3269307"/>
            <a:ext cx="191319" cy="191319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789363" y="3719438"/>
            <a:ext cx="3711997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Peluang Baru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4789363" y="4025950"/>
            <a:ext cx="3711997" cy="4536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Membuka peluang pekerjaan baru yang sebelumnya tidak ada.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0199"/>
            <a:ext cx="8151763" cy="35294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Dampak Negatif</a:t>
            </a:r>
            <a:endParaRPr lang="en-US" sz="2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341760"/>
            <a:ext cx="5202138" cy="2947839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78649" y="989335"/>
            <a:ext cx="2673921" cy="84571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163047" y="1116583"/>
            <a:ext cx="2362274" cy="1765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Kejahatan Siber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6163047" y="1383060"/>
            <a:ext cx="2362274" cy="32474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Penipuan online, peretasan, dan ancaman keamanan digital yang semakin canggih.</a:t>
            </a:r>
            <a:endParaRPr lang="en-US" sz="8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78649" y="1925017"/>
            <a:ext cx="2673921" cy="84571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163047" y="2052265"/>
            <a:ext cx="2362274" cy="1765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Penyalahgunaan Data Pribadi</a:t>
            </a:r>
            <a:endParaRPr lang="en-US" sz="1100" dirty="0"/>
          </a:p>
        </p:txBody>
      </p:sp>
      <p:sp>
        <p:nvSpPr>
          <p:cNvPr id="9" name="Text 4"/>
          <p:cNvSpPr/>
          <p:nvPr/>
        </p:nvSpPr>
        <p:spPr>
          <a:xfrm>
            <a:off x="6163047" y="2318742"/>
            <a:ext cx="2362274" cy="32474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Data pengguna dieksploitasi tanpa izin untuk kepentingan komersial atau kriminal.</a:t>
            </a:r>
            <a:endParaRPr lang="en-US" sz="8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78649" y="2860700"/>
            <a:ext cx="2673921" cy="84571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163047" y="2987948"/>
            <a:ext cx="2362274" cy="1765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Ketergantungan Teknologi</a:t>
            </a:r>
            <a:endParaRPr lang="en-US" sz="1100" dirty="0"/>
          </a:p>
        </p:txBody>
      </p:sp>
      <p:sp>
        <p:nvSpPr>
          <p:cNvPr id="12" name="Text 6"/>
          <p:cNvSpPr/>
          <p:nvPr/>
        </p:nvSpPr>
        <p:spPr>
          <a:xfrm>
            <a:off x="6163047" y="3254425"/>
            <a:ext cx="2362274" cy="32474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Ketidakmampuan berfungsi tanpa perangkat digital dalam kehidupan sehari-hari.</a:t>
            </a:r>
            <a:endParaRPr lang="en-US" sz="8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78649" y="3796382"/>
            <a:ext cx="2673921" cy="845716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163047" y="3923630"/>
            <a:ext cx="2362274" cy="1765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Pergeseran Pekerjaan</a:t>
            </a:r>
            <a:endParaRPr lang="en-US" sz="1100" dirty="0"/>
          </a:p>
        </p:txBody>
      </p:sp>
      <p:sp>
        <p:nvSpPr>
          <p:cNvPr id="15" name="Text 8"/>
          <p:cNvSpPr/>
          <p:nvPr/>
        </p:nvSpPr>
        <p:spPr>
          <a:xfrm>
            <a:off x="6163047" y="4190107"/>
            <a:ext cx="2362274" cy="32474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Otomatisasi menggantikan peran manusia di berbagai sektor industri.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1228725"/>
            <a:ext cx="889620" cy="215354"/>
          </a:xfrm>
          <a:prstGeom prst="roundRect">
            <a:avLst>
              <a:gd name="adj" fmla="val 22119"/>
            </a:avLst>
          </a:prstGeom>
          <a:noFill/>
          <a:ln w="4763">
            <a:solidFill>
              <a:srgbClr val="1B1B27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1174" y="1279699"/>
            <a:ext cx="113407" cy="1134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1284" y="1271215"/>
            <a:ext cx="1006599" cy="13037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1B1B27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AKTIVITAS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96119" y="1500783"/>
            <a:ext cx="8151763" cy="4429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Debat Kelompok</a:t>
            </a:r>
            <a:endParaRPr lang="en-US" sz="2750" dirty="0"/>
          </a:p>
        </p:txBody>
      </p:sp>
      <p:sp>
        <p:nvSpPr>
          <p:cNvPr id="6" name="Text 3"/>
          <p:cNvSpPr/>
          <p:nvPr/>
        </p:nvSpPr>
        <p:spPr>
          <a:xfrm>
            <a:off x="708720" y="2315840"/>
            <a:ext cx="8396362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"Apakah AI lebih banyak memberikan manfaat atau ancaman bagi manusia?"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96119" y="2156371"/>
            <a:ext cx="19050" cy="545753"/>
          </a:xfrm>
          <a:prstGeom prst="roundRect">
            <a:avLst>
              <a:gd name="adj" fmla="val 50000"/>
            </a:avLst>
          </a:prstGeom>
          <a:solidFill>
            <a:srgbClr val="1B1B27"/>
          </a:solidFill>
        </p:spPr>
      </p:sp>
      <p:sp>
        <p:nvSpPr>
          <p:cNvPr id="8" name="Shape 5"/>
          <p:cNvSpPr/>
          <p:nvPr/>
        </p:nvSpPr>
        <p:spPr>
          <a:xfrm>
            <a:off x="496119" y="2861593"/>
            <a:ext cx="8151763" cy="1053182"/>
          </a:xfrm>
          <a:prstGeom prst="roundRect">
            <a:avLst>
              <a:gd name="adj" fmla="val 5654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00881" y="2866355"/>
            <a:ext cx="4071119" cy="1043657"/>
          </a:xfrm>
          <a:custGeom>
            <a:avLst/>
            <a:gdLst/>
            <a:ahLst/>
            <a:cxnLst/>
            <a:rect l="l" t="t" r="r" b="b"/>
            <a:pathLst>
              <a:path w="4071119" h="1043657">
                <a:moveTo>
                  <a:pt x="49619" y="0"/>
                </a:moveTo>
                <a:lnTo>
                  <a:pt x="4071119" y="0"/>
                </a:lnTo>
                <a:lnTo>
                  <a:pt x="4071119" y="1043657"/>
                </a:lnTo>
                <a:lnTo>
                  <a:pt x="49619" y="1043657"/>
                </a:lnTo>
                <a:arcTo wR="49619" hR="49619" stAng="5400000" swAng="5400000"/>
                <a:lnTo>
                  <a:pt x="0" y="49619"/>
                </a:lnTo>
                <a:arcTo wR="49619" hR="49619" stAng="10800000" swAng="5400000"/>
                <a:close/>
              </a:path>
            </a:pathLst>
          </a:custGeom>
          <a:solidFill>
            <a:srgbClr val="E1E1EA"/>
          </a:solidFill>
        </p:spPr>
      </p:sp>
      <p:sp>
        <p:nvSpPr>
          <p:cNvPr id="10" name="Text 7"/>
          <p:cNvSpPr/>
          <p:nvPr/>
        </p:nvSpPr>
        <p:spPr>
          <a:xfrm>
            <a:off x="642640" y="3008114"/>
            <a:ext cx="3787601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Tim Pro — Manfaat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42640" y="3314626"/>
            <a:ext cx="3787601" cy="4536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Argumentasikan sisi positif AI: efisiensi, inovasi, dan kemajuan peradaban.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0" y="2866355"/>
            <a:ext cx="4071119" cy="1043657"/>
          </a:xfrm>
          <a:custGeom>
            <a:avLst/>
            <a:gdLst/>
            <a:ahLst/>
            <a:cxnLst/>
            <a:rect l="l" t="t" r="r" b="b"/>
            <a:pathLst>
              <a:path w="4071119" h="1043657">
                <a:moveTo>
                  <a:pt x="0" y="0"/>
                </a:moveTo>
                <a:lnTo>
                  <a:pt x="4021500" y="0"/>
                </a:lnTo>
                <a:arcTo wR="49619" hR="49619" stAng="16200000" swAng="5400000"/>
                <a:lnTo>
                  <a:pt x="4071119" y="994039"/>
                </a:lnTo>
                <a:arcTo wR="49619" hR="49619" stAng="0" swAng="5400000"/>
                <a:lnTo>
                  <a:pt x="0" y="1043657"/>
                </a:lnTo>
                <a:lnTo>
                  <a:pt x="0" y="0"/>
                </a:lnTo>
                <a:close/>
              </a:path>
            </a:pathLst>
          </a:custGeom>
          <a:solidFill>
            <a:srgbClr val="E1E1EA"/>
          </a:solidFill>
        </p:spPr>
      </p:sp>
      <p:sp>
        <p:nvSpPr>
          <p:cNvPr id="13" name="Shape 10"/>
          <p:cNvSpPr/>
          <p:nvPr/>
        </p:nvSpPr>
        <p:spPr>
          <a:xfrm>
            <a:off x="4572000" y="2866355"/>
            <a:ext cx="19050" cy="1043657"/>
          </a:xfrm>
          <a:prstGeom prst="roundRect">
            <a:avLst>
              <a:gd name="adj" fmla="val 50000"/>
            </a:avLst>
          </a:prstGeom>
          <a:solidFill>
            <a:srgbClr val="C7C7D0"/>
          </a:solidFill>
        </p:spPr>
      </p:sp>
      <p:sp>
        <p:nvSpPr>
          <p:cNvPr id="14" name="Text 11"/>
          <p:cNvSpPr/>
          <p:nvPr/>
        </p:nvSpPr>
        <p:spPr>
          <a:xfrm>
            <a:off x="4713759" y="3008114"/>
            <a:ext cx="3787601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Tim Kontra — Ancaman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4713759" y="3314626"/>
            <a:ext cx="3787601" cy="4536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Argumentasikan sisi negatif AI: pengangguran, privasi, dan risiko keamanan.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925119" y="1881113"/>
            <a:ext cx="680368" cy="215354"/>
          </a:xfrm>
          <a:prstGeom prst="roundRect">
            <a:avLst>
              <a:gd name="adj" fmla="val 22119"/>
            </a:avLst>
          </a:prstGeom>
          <a:solidFill>
            <a:srgbClr val="E1E1EA"/>
          </a:solidFill>
        </p:spPr>
      </p:sp>
      <p:sp>
        <p:nvSpPr>
          <p:cNvPr id="4" name="Text 1"/>
          <p:cNvSpPr/>
          <p:nvPr/>
        </p:nvSpPr>
        <p:spPr>
          <a:xfrm>
            <a:off x="4010174" y="1923604"/>
            <a:ext cx="967457" cy="13037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BAGIAN D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3925119" y="2153171"/>
            <a:ext cx="4722763" cy="4429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Informatika Masa Depan</a:t>
            </a:r>
            <a:endParaRPr lang="en-US" sz="2750" dirty="0"/>
          </a:p>
        </p:txBody>
      </p:sp>
      <p:sp>
        <p:nvSpPr>
          <p:cNvPr id="6" name="Text 3"/>
          <p:cNvSpPr/>
          <p:nvPr/>
        </p:nvSpPr>
        <p:spPr>
          <a:xfrm>
            <a:off x="3925119" y="2808759"/>
            <a:ext cx="4722763" cy="4536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Apa yang menanti kita di cakrawala teknologi? Bersiaplah menjelajahi tren yang akan membentuk dunia esok hari.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16198"/>
            <a:ext cx="8151763" cy="4223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Tren Teknologi Masa Depan (1)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496119" y="1160413"/>
            <a:ext cx="2638797" cy="21111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Artificial Intelligence Lanjutan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96119" y="1500262"/>
            <a:ext cx="2638797" cy="135671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213360" indent="-213360" algn="l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AI yang semakin cerdas dan mampu belajar mandiri</a:t>
            </a:r>
            <a:endParaRPr lang="en-US" sz="1050" dirty="0"/>
          </a:p>
          <a:p>
            <a:pPr marL="213360" indent="-213360" algn="l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Asisten virtual yang memahami konteks dan emosi manusia</a:t>
            </a:r>
            <a:endParaRPr lang="en-US" sz="1050" dirty="0"/>
          </a:p>
          <a:p>
            <a:pPr marL="213360" indent="-213360" algn="l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Otomatisasi pekerjaan di berbagai sektor industri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96119" y="2985715"/>
            <a:ext cx="2638797" cy="21111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Robotika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96119" y="3325564"/>
            <a:ext cx="2638797" cy="135671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213360" indent="-213360" algn="l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Robot industri untuk manufaktur presisi tinggi</a:t>
            </a:r>
            <a:endParaRPr lang="en-US" sz="1050" dirty="0"/>
          </a:p>
          <a:p>
            <a:pPr marL="213360" indent="-213360" algn="l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Robot pelayanan di restoran, hotel, dan ritel</a:t>
            </a:r>
            <a:endParaRPr lang="en-US" sz="1050" dirty="0"/>
          </a:p>
          <a:p>
            <a:pPr marL="213360" indent="-213360" algn="l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Robot kesehatan untuk operasi dan perawatan pasien</a:t>
            </a:r>
            <a:endParaRPr lang="en-US" sz="10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69332" y="1410891"/>
            <a:ext cx="5183237" cy="293712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449214"/>
            <a:ext cx="8151763" cy="4429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Tren Teknologi Masa Depan (2)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2175718"/>
            <a:ext cx="354360" cy="35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2707258"/>
            <a:ext cx="2599134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AR (Augmented Reality) &amp; VR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96119" y="3013770"/>
            <a:ext cx="2599134" cy="68044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Pendidikan virtual, simulasi pekerjaan, dan dunia digital/metaverse yang imersif.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72433" y="2175718"/>
            <a:ext cx="354360" cy="3543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272433" y="2707258"/>
            <a:ext cx="2599134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Komputasi Kuantum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272433" y="3013770"/>
            <a:ext cx="2599134" cy="68044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Komputer dengan kemampuan perhitungan sangat tinggi, jauh melampaui komputer konvensional.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48747" y="2175718"/>
            <a:ext cx="354360" cy="3543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048747" y="2707258"/>
            <a:ext cx="2599134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Teknologi Hijau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048747" y="3013770"/>
            <a:ext cx="2599134" cy="68044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Komputer hemat energi dan teknologi ramah lingkungan untuk masa depan berkelanjutan.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96119" y="1881113"/>
            <a:ext cx="670396" cy="215354"/>
          </a:xfrm>
          <a:prstGeom prst="roundRect">
            <a:avLst>
              <a:gd name="adj" fmla="val 22119"/>
            </a:avLst>
          </a:prstGeom>
          <a:solidFill>
            <a:srgbClr val="E1E1EA"/>
          </a:solidFill>
        </p:spPr>
      </p:sp>
      <p:sp>
        <p:nvSpPr>
          <p:cNvPr id="4" name="Text 1"/>
          <p:cNvSpPr/>
          <p:nvPr/>
        </p:nvSpPr>
        <p:spPr>
          <a:xfrm>
            <a:off x="581174" y="1923604"/>
            <a:ext cx="957486" cy="13037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BAGIAN E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96119" y="2153171"/>
            <a:ext cx="4722763" cy="4429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Proyek Mini</a:t>
            </a:r>
            <a:endParaRPr lang="en-US" sz="2750" dirty="0"/>
          </a:p>
        </p:txBody>
      </p:sp>
      <p:sp>
        <p:nvSpPr>
          <p:cNvPr id="6" name="Text 3"/>
          <p:cNvSpPr/>
          <p:nvPr/>
        </p:nvSpPr>
        <p:spPr>
          <a:xfrm>
            <a:off x="496119" y="2808759"/>
            <a:ext cx="4722763" cy="4536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Saatnya berkreasi! Wujudkan imajinasimu tentang dunia informatika masa depan.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27422"/>
            <a:ext cx="8151763" cy="4429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Prediksi Dunia Informatika Masa Depan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653927"/>
            <a:ext cx="8608963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Aktivitas Kelompok — pilih salah satu tema: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2040210"/>
            <a:ext cx="2622724" cy="764530"/>
          </a:xfrm>
          <a:prstGeom prst="roundRect">
            <a:avLst>
              <a:gd name="adj" fmla="val 7788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C7C7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6927" y="2201019"/>
            <a:ext cx="2301106" cy="44291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🏫</a:t>
            </a: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Sekolah Masa Depan dengan AI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3260601" y="2040210"/>
            <a:ext cx="2622724" cy="764530"/>
          </a:xfrm>
          <a:prstGeom prst="roundRect">
            <a:avLst>
              <a:gd name="adj" fmla="val 7788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C7C7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21410" y="2201019"/>
            <a:ext cx="2301106" cy="44291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🏠</a:t>
            </a: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Rumah Pintar Tahun 2040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96119" y="2946499"/>
            <a:ext cx="4004965" cy="543074"/>
          </a:xfrm>
          <a:prstGeom prst="roundRect">
            <a:avLst>
              <a:gd name="adj" fmla="val 10964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C7C7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6927" y="3107308"/>
            <a:ext cx="3683347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👷</a:t>
            </a: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Pekerjaan Manusia di Era AI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642842" y="2946499"/>
            <a:ext cx="4004965" cy="543074"/>
          </a:xfrm>
          <a:prstGeom prst="roundRect">
            <a:avLst>
              <a:gd name="adj" fmla="val 10964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C7C7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3651" y="3107308"/>
            <a:ext cx="3683347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🔐</a:t>
            </a: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Keamanan Data Masa Depan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96119" y="3649042"/>
            <a:ext cx="8151763" cy="566961"/>
          </a:xfrm>
          <a:prstGeom prst="roundRect">
            <a:avLst>
              <a:gd name="adj" fmla="val 10502"/>
            </a:avLst>
          </a:prstGeom>
          <a:solidFill>
            <a:srgbClr val="E1E1EA"/>
          </a:solidFill>
        </p:spPr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7877" y="3849812"/>
            <a:ext cx="177180" cy="141759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956816" y="3826222"/>
            <a:ext cx="8006507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Roboto Bold" panose="02000000000000000000" pitchFamily="34" charset="0"/>
                <a:ea typeface="Roboto Bold" panose="02000000000000000000" pitchFamily="34" charset="-122"/>
                <a:cs typeface="Roboto Bold" panose="02000000000000000000" pitchFamily="34" charset="-120"/>
              </a:rPr>
              <a:t>Produk:</a:t>
            </a:r>
            <a:r>
              <a:rPr lang="en-US" sz="1100" dirty="0">
                <a:solidFill>
                  <a:srgbClr val="000000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Presentasi singkat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071935"/>
            <a:ext cx="4722763" cy="4429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Refleksi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3925119" y="1727522"/>
            <a:ext cx="318939" cy="318939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978287" y="1754088"/>
            <a:ext cx="212601" cy="26580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4385816" y="1776189"/>
            <a:ext cx="4262065" cy="44291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Teknologi apa yang paling berpengaruh bagi manusia di masa depan?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385816" y="2304157"/>
            <a:ext cx="4262065" cy="4536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Pikirkan teknologi yang akan paling mengubah cara kita hidup, bekerja, dan belajar.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925119" y="3041303"/>
            <a:ext cx="318939" cy="318939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978287" y="3067869"/>
            <a:ext cx="212601" cy="26580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4385816" y="3089970"/>
            <a:ext cx="4262065" cy="44291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Keterampilan apa yang harus dimiliki generasi muda?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4385816" y="3617937"/>
            <a:ext cx="4262065" cy="4536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Identifikasi kemampuan yang perlu dikuasai agar siap menghadapi era digital yang terus berkembang.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3002280" y="1594485"/>
            <a:ext cx="397129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800">
                <a:latin typeface="Book Antiqua" panose="02040602050305030304" charset="0"/>
                <a:cs typeface="Book Antiqua" panose="02040602050305030304" charset="0"/>
              </a:rPr>
              <a:t>Yesss selesaiiiii........</a:t>
            </a:r>
            <a:endParaRPr lang="en-US" sz="2800">
              <a:latin typeface="Book Antiqua" panose="02040602050305030304" charset="0"/>
              <a:cs typeface="Book Antiqua" panose="0204060205030503030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5096</Words>
  <Application>WPS Presentation</Application>
  <PresentationFormat>On-screen Show (16:9)</PresentationFormat>
  <Paragraphs>259</Paragraphs>
  <Slides>21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41" baseType="lpstr">
      <vt:lpstr>Arial</vt:lpstr>
      <vt:lpstr>SimSun</vt:lpstr>
      <vt:lpstr>Wingdings</vt:lpstr>
      <vt:lpstr>Raleway</vt:lpstr>
      <vt:lpstr>Raleway</vt:lpstr>
      <vt:lpstr>Raleway</vt:lpstr>
      <vt:lpstr>Roboto</vt:lpstr>
      <vt:lpstr>Roboto</vt:lpstr>
      <vt:lpstr>Roboto</vt:lpstr>
      <vt:lpstr>Roboto Bold</vt:lpstr>
      <vt:lpstr>Roboto Bold</vt:lpstr>
      <vt:lpstr>Roboto Bold</vt:lpstr>
      <vt:lpstr>Raleway Light</vt:lpstr>
      <vt:lpstr>Raleway Light</vt:lpstr>
      <vt:lpstr>Raleway Light</vt:lpstr>
      <vt:lpstr>Calibri</vt:lpstr>
      <vt:lpstr>Microsoft YaHei</vt:lpstr>
      <vt:lpstr>Arial Unicode MS</vt:lpstr>
      <vt:lpstr>Book Antiqua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R Hana Amalia</cp:lastModifiedBy>
  <cp:revision>4</cp:revision>
  <dcterms:created xsi:type="dcterms:W3CDTF">2026-07-28T16:39:00Z</dcterms:created>
  <dcterms:modified xsi:type="dcterms:W3CDTF">2026-08-10T04:17:13Z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629A3B4F38F442D7B390861D3A31F6C2_12</vt:lpwstr>
  </property>
  <property fmtid="{D5CDD505-2E9C-101B-9397-08002B2CF9AE}" pid="3" name="KSOProductBuildVer">
    <vt:lpwstr>1033-12.1.0.28032</vt:lpwstr>
  </property>
</Properties>
</file>