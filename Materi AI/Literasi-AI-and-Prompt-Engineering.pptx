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2.svg" ContentType="image/svg+xml"/>
  <Override PartName="/ppt/media/image25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embeddedFontLst>
    <p:embeddedFont>
      <p:font typeface="Raleway" pitchFamily="34" charset="0"/>
      <p:regular r:id="rId19"/>
      <p:regular r:id="rId20"/>
      <p:regular r:id="rId21"/>
    </p:embeddedFont>
    <p:embeddedFont>
      <p:font typeface="Roboto" panose="02000000000000000000" pitchFamily="34" charset="0"/>
      <p:regular r:id="rId22"/>
      <p:regular r:id="rId23"/>
      <p:regular r:id="rId24"/>
    </p:embeddedFont>
    <p:embeddedFont>
      <p:font typeface="Roboto Bold" panose="02000000000000000000" pitchFamily="34" charset="0"/>
      <p:bold r:id="rId25"/>
      <p:bold r:id="rId26"/>
      <p:bold r:id="rId27"/>
    </p:embeddedFont>
    <p:embeddedFont>
      <p:font typeface="Calibri" panose="020F0502020204030204" charset="0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13.fntdata"/><Relationship Id="rId30" Type="http://schemas.openxmlformats.org/officeDocument/2006/relationships/font" Target="fonts/font12.fntdata"/><Relationship Id="rId3" Type="http://schemas.openxmlformats.org/officeDocument/2006/relationships/slide" Target="slides/slide1.xml"/><Relationship Id="rId29" Type="http://schemas.openxmlformats.org/officeDocument/2006/relationships/font" Target="fonts/font11.fntdata"/><Relationship Id="rId28" Type="http://schemas.openxmlformats.org/officeDocument/2006/relationships/font" Target="fonts/font10.fntdata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8.svg"/><Relationship Id="rId11" Type="http://schemas.openxmlformats.org/officeDocument/2006/relationships/image" Target="../media/image17.png"/><Relationship Id="rId10" Type="http://schemas.openxmlformats.org/officeDocument/2006/relationships/image" Target="../media/image16.sv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21644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Literasi AI &amp; Prompt Engineering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20219"/>
            <a:ext cx="5179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"AI Challenge – Siapa yang Memberi Instruksi Terbaik?"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5935" y="3206750"/>
            <a:ext cx="1844040" cy="285115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1174" y="3268042"/>
            <a:ext cx="1775073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INFORMATIKA · KELAS XII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932"/>
            <a:ext cx="8151763" cy="352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Tujuan Pembelajaran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963885"/>
            <a:ext cx="8151763" cy="6777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188" y="1196876"/>
            <a:ext cx="169441" cy="21178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52215" y="1091133"/>
            <a:ext cx="7468419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Konsep Dasar AI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52215" y="1321594"/>
            <a:ext cx="7468419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Menjelaskan peran AI dalam kehidupan sehari-hari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31615"/>
            <a:ext cx="8151763" cy="6777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188" y="1964606"/>
            <a:ext cx="169441" cy="21178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52215" y="1858863"/>
            <a:ext cx="7468419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Bedakan Prompt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52215" y="2089324"/>
            <a:ext cx="7468419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Membedakan prompt yang kurang efektif dan prompt yang efektif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499345"/>
            <a:ext cx="8151763" cy="6777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9188" y="2732336"/>
            <a:ext cx="169441" cy="21178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052215" y="2626593"/>
            <a:ext cx="7468419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Susun Prompt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52215" y="2857054"/>
            <a:ext cx="7468419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Menyusun prompt yang spesifik, terstruktur, dan sesuai tujuan</a:t>
            </a:r>
            <a:endParaRPr lang="en-US" sz="8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3267075"/>
            <a:ext cx="8151763" cy="6777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9188" y="3500065"/>
            <a:ext cx="169441" cy="21178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052215" y="3394323"/>
            <a:ext cx="7468419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Evaluasi Output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052215" y="3624783"/>
            <a:ext cx="7468419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Mengevaluasi kualitas keluaran AI berdasarkan prompt yang diberikan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4034805"/>
            <a:ext cx="8151763" cy="6777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9188" y="4267795"/>
            <a:ext cx="169441" cy="21178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052215" y="4162053"/>
            <a:ext cx="7468419" cy="176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Etika AI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052215" y="4392513"/>
            <a:ext cx="7468419" cy="1623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Merefleksikan etika penggunaan AI dalam proses belajar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07009"/>
            <a:ext cx="4722763" cy="4477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Pertanyaan Pemantik </a:t>
            </a:r>
            <a:r>
              <a:rPr lang="en-US" sz="27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🤔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96735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6816" y="2016026"/>
            <a:ext cx="4262065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Mengapa AI bisa menghasilkan jawaban yang </a:t>
            </a:r>
            <a:r>
              <a:rPr lang="en-US" sz="1350" i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berbeda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untuk pertanyaan yang hampir sama?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496119" y="2742456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6816" y="2791123"/>
            <a:ext cx="42620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Apakah AI </a:t>
            </a:r>
            <a:r>
              <a:rPr lang="en-US" sz="1350" i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selalu benar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?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96119" y="3344912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6816" y="3393579"/>
            <a:ext cx="4262065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Bagaimana cara "berkomunikasi" dengan AI agar hasilnya </a:t>
            </a:r>
            <a:r>
              <a:rPr lang="en-US" sz="1350" i="1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sesuai kebutuhan</a:t>
            </a: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?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4006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Bisa Salah? Bandingkan Dua Prompt Ini!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629594"/>
            <a:ext cx="4107135" cy="1813471"/>
          </a:xfrm>
          <a:prstGeom prst="roundRect">
            <a:avLst>
              <a:gd name="adj" fmla="val 5629"/>
            </a:avLst>
          </a:prstGeom>
          <a:solidFill>
            <a:srgbClr val="1B1B27">
              <a:alpha val="9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35781" y="1789063"/>
            <a:ext cx="896615" cy="215354"/>
          </a:xfrm>
          <a:prstGeom prst="roundRect">
            <a:avLst>
              <a:gd name="adj" fmla="val 22119"/>
            </a:avLst>
          </a:prstGeom>
          <a:solidFill>
            <a:srgbClr val="1F1F2D"/>
          </a:solidFill>
        </p:spPr>
      </p:sp>
      <p:sp>
        <p:nvSpPr>
          <p:cNvPr id="5" name="Text 3"/>
          <p:cNvSpPr/>
          <p:nvPr/>
        </p:nvSpPr>
        <p:spPr>
          <a:xfrm>
            <a:off x="620837" y="1831553"/>
            <a:ext cx="1183704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chemeClr val="bg1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❌ PROMPT A</a:t>
            </a:r>
            <a:endParaRPr lang="en-US" sz="850" dirty="0">
              <a:solidFill>
                <a:schemeClr val="bg1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03238" y="1789063"/>
            <a:ext cx="170111" cy="215354"/>
          </a:xfrm>
          <a:prstGeom prst="roundRect">
            <a:avLst>
              <a:gd name="adj" fmla="val 28002"/>
            </a:avLst>
          </a:prstGeom>
          <a:solidFill>
            <a:srgbClr val="1F1F2D"/>
          </a:solidFill>
        </p:spPr>
      </p:sp>
      <p:sp>
        <p:nvSpPr>
          <p:cNvPr id="7" name="Text 5"/>
          <p:cNvSpPr/>
          <p:nvPr/>
        </p:nvSpPr>
        <p:spPr>
          <a:xfrm>
            <a:off x="535781" y="2061121"/>
            <a:ext cx="382361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"Buat presentasi tentang jaringan internet."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5781" y="2424336"/>
            <a:ext cx="3823618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→ Hasil: </a:t>
            </a:r>
            <a:r>
              <a:rPr lang="en-US" sz="1100" b="1" dirty="0">
                <a:solidFill>
                  <a:srgbClr val="FFFFF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umum, tidak terarah</a:t>
            </a:r>
            <a:r>
              <a:rPr lang="en-US" sz="11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dan kurang bermanfaat untuk tujuan spesifik.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49701" y="1789063"/>
            <a:ext cx="893266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B1B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4756" y="1831553"/>
            <a:ext cx="1180356" cy="1303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✅</a:t>
            </a:r>
            <a:r>
              <a:rPr lang="en-US" sz="850" dirty="0">
                <a:solidFill>
                  <a:srgbClr val="1B1B27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PROMPT B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49701" y="2061121"/>
            <a:ext cx="3902943" cy="8858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"Buat presentasi 5 slide untuk siswa kelas XII tentang dampak teknologi internet di Indonesia, sertakan data, dampak, solusi, dan contoh."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49701" y="3088704"/>
            <a:ext cx="436014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→ Hasil: </a:t>
            </a: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spesifik, relevan, dan langsung bisa digunakan.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19" y="3602534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E1E1EA"/>
          </a:solidFill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803303"/>
            <a:ext cx="177180" cy="14175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56816" y="3779713"/>
            <a:ext cx="8006507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💡</a:t>
            </a:r>
            <a:r>
              <a:rPr lang="en-US" sz="11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Kualitas keluaran AI sangat dipengaruhi oleh kualitas instruksi (prompt).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Rumus Prompt Engineering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2154"/>
            <a:ext cx="8151763" cy="39855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9124" y="997055"/>
            <a:ext cx="1759012" cy="226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Peran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9124" y="1287918"/>
            <a:ext cx="1759012" cy="2717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Tetapkan AI harus berperan sebagai siapa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89038" y="997055"/>
            <a:ext cx="1759012" cy="226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Tujuan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89038" y="1287918"/>
            <a:ext cx="1759012" cy="2717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Jelaskan hasil yang ingin dicapai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9124" y="3093729"/>
            <a:ext cx="1759012" cy="226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Konteks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9124" y="3384591"/>
            <a:ext cx="1759012" cy="2717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Berikan situasi dan latar belakang relevan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80860" y="3093729"/>
            <a:ext cx="1759012" cy="226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Format &amp; Batasan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80860" y="3384591"/>
            <a:ext cx="1759012" cy="2717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Tentukan bentuk output dan syarat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5489" y="4393818"/>
            <a:ext cx="8608963" cy="8505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Contoh penerapan:</a:t>
            </a: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"Bertindak sebagai guru Informatika kelas XII. Buatkan 10 soal pilihan ganda tentang </a:t>
            </a:r>
            <a:endParaRPr lang="en-US" sz="120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keamanan siber dengan tingkat kesulitan TKA, sertakan kunci jawaban dan pembahasan singkat</a:t>
            </a:r>
            <a:r>
              <a:rPr lang="en-US" sz="5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."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313"/>
            <a:ext cx="8151763" cy="3854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Rumus </a:t>
            </a: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5K + 1F</a:t>
            </a: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2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🔑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028105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2697" y="1154683"/>
            <a:ext cx="365447" cy="365447"/>
          </a:xfrm>
          <a:prstGeom prst="ellipse">
            <a:avLst/>
          </a:prstGeom>
          <a:solidFill>
            <a:srgbClr val="1B1B27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156" y="1255142"/>
            <a:ext cx="164455" cy="164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97" y="1624757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Konteks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2697" y="1877913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Situasinya apa?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24313" y="1028105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0891" y="1154683"/>
            <a:ext cx="365447" cy="365447"/>
          </a:xfrm>
          <a:prstGeom prst="ellipse">
            <a:avLst/>
          </a:prstGeom>
          <a:solidFill>
            <a:srgbClr val="1B1B27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1350" y="1255142"/>
            <a:ext cx="164455" cy="1644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0891" y="1624757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Karakter / Peran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750891" y="1877913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AI diminta berperan sebagai siapa?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96119" y="2290316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2697" y="2416894"/>
            <a:ext cx="365447" cy="365447"/>
          </a:xfrm>
          <a:prstGeom prst="ellipse">
            <a:avLst/>
          </a:prstGeom>
          <a:solidFill>
            <a:srgbClr val="1B1B27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156" y="2517353"/>
            <a:ext cx="164455" cy="1644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2697" y="2886968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Kebutuhan / Tujuan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22697" y="3140125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Apa yang ingin dihasilkan?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24313" y="2290316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0891" y="2416894"/>
            <a:ext cx="365447" cy="365447"/>
          </a:xfrm>
          <a:prstGeom prst="ellipse">
            <a:avLst/>
          </a:prstGeom>
          <a:solidFill>
            <a:srgbClr val="1B1B27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51350" y="2517353"/>
            <a:ext cx="164455" cy="1644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50891" y="2886968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Kriteria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750891" y="3140125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Apa syarat atau batasannya?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96119" y="3552527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2697" y="3679106"/>
            <a:ext cx="365447" cy="365447"/>
          </a:xfrm>
          <a:prstGeom prst="ellipse">
            <a:avLst/>
          </a:prstGeom>
          <a:solidFill>
            <a:srgbClr val="1B1B27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3156" y="3779565"/>
            <a:ext cx="164455" cy="16445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2697" y="4149179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Khalayak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622697" y="4402336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Untuk siapa hasilnya?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624313" y="3552527"/>
            <a:ext cx="4023568" cy="1157585"/>
          </a:xfrm>
          <a:prstGeom prst="roundRect">
            <a:avLst>
              <a:gd name="adj" fmla="val 4420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750891" y="3679106"/>
            <a:ext cx="365447" cy="365447"/>
          </a:xfrm>
          <a:prstGeom prst="ellipse">
            <a:avLst/>
          </a:prstGeom>
          <a:solidFill>
            <a:srgbClr val="1B1B27"/>
          </a:solidFill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51350" y="3779565"/>
            <a:ext cx="164455" cy="16445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50891" y="4149179"/>
            <a:ext cx="3770412" cy="1903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Format (F)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4750891" y="4402336"/>
            <a:ext cx="3770412" cy="1811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Dalam bentuk apa hasilnya?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03114"/>
            <a:ext cx="5183237" cy="29371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3772" y="568077"/>
            <a:ext cx="2638797" cy="127166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Template Prompt 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216402" y="2100486"/>
            <a:ext cx="2436168" cy="8444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Bertindak sebagai [peran]. Saya adalah [siapa]. Tolong buat [hasil] tentang [topik] untuk [target pembaca], dengan [batasan], dalam format [format output].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6013772" y="1984623"/>
            <a:ext cx="19050" cy="1076176"/>
          </a:xfrm>
          <a:prstGeom prst="roundRect">
            <a:avLst>
              <a:gd name="adj" fmla="val 50000"/>
            </a:avLst>
          </a:prstGeom>
          <a:solidFill>
            <a:srgbClr val="1B1B27"/>
          </a:solidFill>
        </p:spPr>
      </p:sp>
      <p:sp>
        <p:nvSpPr>
          <p:cNvPr id="6" name="Text 3"/>
          <p:cNvSpPr/>
          <p:nvPr/>
        </p:nvSpPr>
        <p:spPr>
          <a:xfrm>
            <a:off x="6013772" y="3205683"/>
            <a:ext cx="2638797" cy="138253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Contoh: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"Bertindak sebagai konsultan karier. Saya adalah siswa kelas XII SMA. Tolong buat rencana belajar 14 hari untuk persiapan TKA Informatika, dengan durasi 1 jam per hari, dalam bentuk tabel."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1067"/>
            <a:ext cx="8151763" cy="4477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Challenge – Kartu Misi </a:t>
            </a:r>
            <a:r>
              <a:rPr lang="en-US" sz="27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🏆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02334"/>
            <a:ext cx="8151763" cy="1870025"/>
          </a:xfrm>
          <a:prstGeom prst="roundRect">
            <a:avLst>
              <a:gd name="adj" fmla="val 318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2007096"/>
            <a:ext cx="2714030" cy="1043657"/>
          </a:xfrm>
          <a:custGeom>
            <a:avLst/>
            <a:gdLst/>
            <a:ahLst/>
            <a:cxnLst/>
            <a:rect l="l" t="t" r="r" b="b"/>
            <a:pathLst>
              <a:path w="2714030" h="1043657">
                <a:moveTo>
                  <a:pt x="49619" y="0"/>
                </a:moveTo>
                <a:lnTo>
                  <a:pt x="2714030" y="0"/>
                </a:lnTo>
                <a:lnTo>
                  <a:pt x="2714030" y="1043657"/>
                </a:lnTo>
                <a:lnTo>
                  <a:pt x="0" y="1043657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E1E1EA"/>
          </a:solidFill>
        </p:spPr>
      </p:sp>
      <p:sp>
        <p:nvSpPr>
          <p:cNvPr id="5" name="Text 3"/>
          <p:cNvSpPr/>
          <p:nvPr/>
        </p:nvSpPr>
        <p:spPr>
          <a:xfrm>
            <a:off x="642640" y="2148855"/>
            <a:ext cx="243051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🅐 Rencana Belajar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640" y="2455366"/>
            <a:ext cx="2430512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Buat rencana belajar 14 hari untuk persiapan TKA Informatika (SUDAH)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4911" y="2007096"/>
            <a:ext cx="2714104" cy="1043657"/>
          </a:xfrm>
          <a:prstGeom prst="rect">
            <a:avLst/>
          </a:prstGeom>
          <a:solidFill>
            <a:srgbClr val="E1E1EA"/>
          </a:solidFill>
        </p:spPr>
      </p:sp>
      <p:sp>
        <p:nvSpPr>
          <p:cNvPr id="8" name="Shape 6"/>
          <p:cNvSpPr/>
          <p:nvPr/>
        </p:nvSpPr>
        <p:spPr>
          <a:xfrm>
            <a:off x="3214911" y="2007096"/>
            <a:ext cx="19050" cy="1043657"/>
          </a:xfrm>
          <a:prstGeom prst="roundRect">
            <a:avLst>
              <a:gd name="adj" fmla="val 50000"/>
            </a:avLst>
          </a:prstGeom>
          <a:solidFill>
            <a:srgbClr val="C7C7D0"/>
          </a:solidFill>
        </p:spPr>
      </p:sp>
      <p:sp>
        <p:nvSpPr>
          <p:cNvPr id="9" name="Text 7"/>
          <p:cNvSpPr/>
          <p:nvPr/>
        </p:nvSpPr>
        <p:spPr>
          <a:xfrm>
            <a:off x="3356670" y="2148855"/>
            <a:ext cx="243058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🅑 CV Sederhana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56670" y="2455366"/>
            <a:ext cx="243058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Buat CV untuk lulusan SMA yang ingin magang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29015" y="2007096"/>
            <a:ext cx="2714104" cy="1043657"/>
          </a:xfrm>
          <a:custGeom>
            <a:avLst/>
            <a:gdLst/>
            <a:ahLst/>
            <a:cxnLst/>
            <a:rect l="l" t="t" r="r" b="b"/>
            <a:pathLst>
              <a:path w="2714104" h="1043657">
                <a:moveTo>
                  <a:pt x="0" y="0"/>
                </a:moveTo>
                <a:lnTo>
                  <a:pt x="2664486" y="0"/>
                </a:lnTo>
                <a:arcTo wR="49619" hR="49619" stAng="16200000" swAng="5400000"/>
                <a:lnTo>
                  <a:pt x="2714104" y="1043657"/>
                </a:lnTo>
                <a:lnTo>
                  <a:pt x="0" y="104365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</p:spPr>
      </p:sp>
      <p:sp>
        <p:nvSpPr>
          <p:cNvPr id="12" name="Shape 10"/>
          <p:cNvSpPr/>
          <p:nvPr/>
        </p:nvSpPr>
        <p:spPr>
          <a:xfrm>
            <a:off x="5929015" y="2007096"/>
            <a:ext cx="19050" cy="1043657"/>
          </a:xfrm>
          <a:prstGeom prst="roundRect">
            <a:avLst>
              <a:gd name="adj" fmla="val 50000"/>
            </a:avLst>
          </a:prstGeom>
          <a:solidFill>
            <a:srgbClr val="C7C7D0"/>
          </a:solidFill>
        </p:spPr>
      </p:sp>
      <p:sp>
        <p:nvSpPr>
          <p:cNvPr id="13" name="Text 11"/>
          <p:cNvSpPr/>
          <p:nvPr/>
        </p:nvSpPr>
        <p:spPr>
          <a:xfrm>
            <a:off x="6070774" y="2148855"/>
            <a:ext cx="243058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🅒 Kode HTML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70774" y="2455366"/>
            <a:ext cx="243058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Buat kode HTML halaman profil pribadi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0881" y="3050753"/>
            <a:ext cx="4071119" cy="816843"/>
          </a:xfrm>
          <a:custGeom>
            <a:avLst/>
            <a:gdLst/>
            <a:ahLst/>
            <a:cxnLst/>
            <a:rect l="l" t="t" r="r" b="b"/>
            <a:pathLst>
              <a:path w="4071119" h="816843">
                <a:moveTo>
                  <a:pt x="0" y="0"/>
                </a:moveTo>
                <a:lnTo>
                  <a:pt x="4071119" y="0"/>
                </a:lnTo>
                <a:lnTo>
                  <a:pt x="4071119" y="816843"/>
                </a:lnTo>
                <a:lnTo>
                  <a:pt x="49619" y="816843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</p:spPr>
      </p:sp>
      <p:sp>
        <p:nvSpPr>
          <p:cNvPr id="16" name="Shape 14"/>
          <p:cNvSpPr/>
          <p:nvPr/>
        </p:nvSpPr>
        <p:spPr>
          <a:xfrm>
            <a:off x="500881" y="3050753"/>
            <a:ext cx="4071119" cy="19050"/>
          </a:xfrm>
          <a:prstGeom prst="roundRect">
            <a:avLst>
              <a:gd name="adj" fmla="val 50000"/>
            </a:avLst>
          </a:prstGeom>
          <a:solidFill>
            <a:srgbClr val="C7C7D0"/>
          </a:solidFill>
        </p:spPr>
      </p:sp>
      <p:sp>
        <p:nvSpPr>
          <p:cNvPr id="17" name="Text 15"/>
          <p:cNvSpPr/>
          <p:nvPr/>
        </p:nvSpPr>
        <p:spPr>
          <a:xfrm>
            <a:off x="642640" y="3192512"/>
            <a:ext cx="378760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🅓 Ringkasan Artikel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2640" y="3499024"/>
            <a:ext cx="3787601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Ringkas artikel teknologi menjadi 5 poin penting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050753"/>
            <a:ext cx="4071119" cy="816843"/>
          </a:xfrm>
          <a:custGeom>
            <a:avLst/>
            <a:gdLst/>
            <a:ahLst/>
            <a:cxnLst/>
            <a:rect l="l" t="t" r="r" b="b"/>
            <a:pathLst>
              <a:path w="4071119" h="816843">
                <a:moveTo>
                  <a:pt x="0" y="0"/>
                </a:moveTo>
                <a:lnTo>
                  <a:pt x="4071119" y="0"/>
                </a:lnTo>
                <a:lnTo>
                  <a:pt x="4071119" y="767225"/>
                </a:lnTo>
                <a:arcTo wR="49619" hR="49619" stAng="0" swAng="5400000"/>
                <a:lnTo>
                  <a:pt x="0" y="816843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</p:spPr>
      </p:sp>
      <p:sp>
        <p:nvSpPr>
          <p:cNvPr id="20" name="Shape 18"/>
          <p:cNvSpPr/>
          <p:nvPr/>
        </p:nvSpPr>
        <p:spPr>
          <a:xfrm>
            <a:off x="4572000" y="3050753"/>
            <a:ext cx="19050" cy="816843"/>
          </a:xfrm>
          <a:prstGeom prst="roundRect">
            <a:avLst>
              <a:gd name="adj" fmla="val 50000"/>
            </a:avLst>
          </a:prstGeom>
          <a:solidFill>
            <a:srgbClr val="C7C7D0"/>
          </a:solidFill>
        </p:spPr>
      </p:sp>
      <p:sp>
        <p:nvSpPr>
          <p:cNvPr id="21" name="Shape 19"/>
          <p:cNvSpPr/>
          <p:nvPr/>
        </p:nvSpPr>
        <p:spPr>
          <a:xfrm>
            <a:off x="4572000" y="3050753"/>
            <a:ext cx="4071119" cy="19050"/>
          </a:xfrm>
          <a:prstGeom prst="roundRect">
            <a:avLst>
              <a:gd name="adj" fmla="val 50000"/>
            </a:avLst>
          </a:prstGeom>
          <a:solidFill>
            <a:srgbClr val="C7C7D0"/>
          </a:solidFill>
        </p:spPr>
      </p:sp>
      <p:sp>
        <p:nvSpPr>
          <p:cNvPr id="22" name="Text 20"/>
          <p:cNvSpPr/>
          <p:nvPr/>
        </p:nvSpPr>
        <p:spPr>
          <a:xfrm>
            <a:off x="4713759" y="3192512"/>
            <a:ext cx="378760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🅔 Ide Bisnis Digital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13759" y="3499024"/>
            <a:ext cx="3787601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Buat ide bisnis digital untuk lingkungan sekolah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7431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Langkah Kerja &amp; Diskusi Reflektif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34778"/>
            <a:ext cx="517758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⚙️</a:t>
            </a: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Alur Kerja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15703"/>
            <a:ext cx="5177582" cy="25308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8087" y="2686474"/>
            <a:ext cx="1207051" cy="1508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Tulis Prompt Pertama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479223" y="2107090"/>
            <a:ext cx="1207051" cy="1508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Jalankan &amp; Nilai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074618" y="3298046"/>
            <a:ext cx="1207051" cy="1508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Perbaiki Prompt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459760" y="3888160"/>
            <a:ext cx="1243933" cy="1508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Ulangi hingga Optimal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24339" y="1622822"/>
            <a:ext cx="262823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💬</a:t>
            </a: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Pertanyaan Diskusi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7471" y="2010817"/>
            <a:ext cx="212601" cy="2126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85037" y="2003747"/>
            <a:ext cx="216753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Apa </a:t>
            </a: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kesalahan terbesar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pada prompt pertama yang kamu tulis?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7471" y="2747962"/>
            <a:ext cx="212601" cy="2126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85037" y="2740893"/>
            <a:ext cx="216753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Strategi apa yang </a:t>
            </a: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paling meningkatkan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kualitas hasil AI?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7471" y="3485108"/>
            <a:ext cx="212601" cy="21260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85037" y="3478039"/>
            <a:ext cx="2167533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Apa </a:t>
            </a: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risiko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jika kita langsung percaya pada jawaban AI tanpa verifikasi?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9770"/>
            <a:ext cx="4722763" cy="3785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Etika AI &amp; Refleksi Akhir </a:t>
            </a:r>
            <a:r>
              <a:rPr lang="en-US" sz="23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🌐</a:t>
            </a:r>
            <a:endParaRPr lang="en-US" sz="2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949672"/>
            <a:ext cx="4722763" cy="86781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16139" y="1083543"/>
            <a:ext cx="4397871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Selalu Verifikasi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4116139" y="1330896"/>
            <a:ext cx="4397871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AI perlu </a:t>
            </a:r>
            <a:r>
              <a:rPr lang="en-US" sz="9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diverifikasi</a:t>
            </a:r>
            <a:r>
              <a:rPr lang="en-US" sz="9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dengan sumber lain — AI tidak selalu benar dan bisa menghasilkan informasi yang keliru.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918395"/>
            <a:ext cx="4722763" cy="86781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6139" y="2052265"/>
            <a:ext cx="4397871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Pahami, Lalu Tulis Sendiri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4116139" y="2299618"/>
            <a:ext cx="4397871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Gunakan AI untuk </a:t>
            </a:r>
            <a:r>
              <a:rPr lang="en-US" sz="9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memahami materi</a:t>
            </a:r>
            <a:r>
              <a:rPr lang="en-US" sz="9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 lalu ekspresikan dengan kata-kata sendiri — bukan menyalin mentah-mentah.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2887117"/>
            <a:ext cx="4722763" cy="86781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16139" y="3020988"/>
            <a:ext cx="4397871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Kenali Batasannya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116139" y="3268340"/>
            <a:ext cx="4397871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Dalam situasi apa AI </a:t>
            </a:r>
            <a:r>
              <a:rPr lang="en-US" sz="9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sebaiknya tidak</a:t>
            </a:r>
            <a:r>
              <a:rPr lang="en-US" sz="9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dijadikan satu-satunya sumber? Diskusikan bersama!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3855839"/>
            <a:ext cx="4722763" cy="86781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116139" y="3989710"/>
            <a:ext cx="4397871" cy="1868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= Alat Bantu Belajar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4116139" y="4237062"/>
            <a:ext cx="4397871" cy="35272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Jadikan AI sebagai </a:t>
            </a:r>
            <a:r>
              <a:rPr lang="en-US" sz="9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mitra belajar</a:t>
            </a:r>
            <a:r>
              <a:rPr lang="en-US" sz="9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yang cerdas, bukan jalan pintas untuk menghindari proses berpikir.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01279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Diskusi Reflektif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250" y="1963936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956867"/>
            <a:ext cx="426206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Apa </a:t>
            </a: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pelajaran terpenting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tentang penggunaan AI hari ini?</a:t>
            </a:r>
            <a:endParaRPr lang="en-US" sz="11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250" y="2679799"/>
            <a:ext cx="212601" cy="21260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385816" y="2672730"/>
            <a:ext cx="426206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Dalam situasi apa AI sebaiknya </a:t>
            </a: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tidak dijadikan satu-satunya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sumber informasi?</a:t>
            </a:r>
            <a:endParaRPr lang="en-US" sz="11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8250" y="3416945"/>
            <a:ext cx="212601" cy="21260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385816" y="3409876"/>
            <a:ext cx="426206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Bagaimana cara menggunakan AI secara </a:t>
            </a:r>
            <a:r>
              <a:rPr lang="en-US" sz="1100" b="1" dirty="0">
                <a:solidFill>
                  <a:srgbClr val="3C3939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etis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di sekolah?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01588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Aktivitas Kelas: 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301279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Latihan Prompt Engineering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956867"/>
            <a:ext cx="4722763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Dalam kelompok, setiap pasangan siswa akan memperbaiki prompt awal yang kurang spesifik ini: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08720" y="2729433"/>
            <a:ext cx="4967362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"Buat materi tentang internet."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569964"/>
            <a:ext cx="19050" cy="545753"/>
          </a:xfrm>
          <a:prstGeom prst="roundRect">
            <a:avLst>
              <a:gd name="adj" fmla="val 50000"/>
            </a:avLst>
          </a:prstGeom>
          <a:solidFill>
            <a:srgbClr val="1B1B27"/>
          </a:solidFill>
        </p:spPr>
      </p:sp>
      <p:sp>
        <p:nvSpPr>
          <p:cNvPr id="8" name="Text 5"/>
          <p:cNvSpPr/>
          <p:nvPr/>
        </p:nvSpPr>
        <p:spPr>
          <a:xfrm>
            <a:off x="496119" y="3275186"/>
            <a:ext cx="4722763" cy="106672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Gunakan rumus </a:t>
            </a:r>
            <a:r>
              <a:rPr lang="en-US" sz="1100" b="1" dirty="0">
                <a:solidFill>
                  <a:srgbClr val="1B1B27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5K + 1F</a:t>
            </a: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yang sudah dipelajari untuk mengubahnya menjadi prompt yang lebih efektif, (membahas dampak positif dan negatif internet beserta contohnya, bagaimana cara menanggulanginya)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3899</Words>
  <Application>WPS Presentation</Application>
  <PresentationFormat>On-screen Show (16:9)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8" baseType="lpstr">
      <vt:lpstr>Arial</vt:lpstr>
      <vt:lpstr>SimSun</vt:lpstr>
      <vt:lpstr>Wingdings</vt:lpstr>
      <vt:lpstr>Liberation Sans</vt:lpstr>
      <vt:lpstr>Raleway</vt:lpstr>
      <vt:lpstr>C059</vt:lpstr>
      <vt:lpstr>Raleway</vt:lpstr>
      <vt:lpstr>Raleway</vt:lpstr>
      <vt:lpstr>Roboto</vt:lpstr>
      <vt:lpstr>Roboto</vt:lpstr>
      <vt:lpstr>Roboto</vt:lpstr>
      <vt:lpstr>Roboto Bold</vt:lpstr>
      <vt:lpstr>Roboto Bold</vt:lpstr>
      <vt:lpstr>Roboto Bold</vt:lpstr>
      <vt:lpstr>Calibri</vt:lpstr>
      <vt:lpstr>Noto Serif CJK HK ExtraLight</vt:lpstr>
      <vt:lpstr>Microsoft YaHei</vt:lpstr>
      <vt:lpstr>Noto Sans CJK SC</vt:lpstr>
      <vt:lpstr>Arial Unicode MS</vt:lpstr>
      <vt:lpstr>Noto Color Emoji</vt:lpstr>
      <vt:lpstr>Noto Serif CJK SC</vt:lpstr>
      <vt:lpstr>Adwaita Mono</vt:lpstr>
      <vt:lpstr>Font Awesome 7 Free</vt:lpstr>
      <vt:lpstr>Font Awesome 7 Free Solid</vt:lpstr>
      <vt:lpstr>HYZhongYuanB5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daniarsyah</cp:lastModifiedBy>
  <cp:revision>5</cp:revision>
  <dcterms:created xsi:type="dcterms:W3CDTF">2026-09-14T07:23:47Z</dcterms:created>
  <dcterms:modified xsi:type="dcterms:W3CDTF">2026-09-14T07:23:47Z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829AA073CFED430DBC11C9606FE8A8DA_12</vt:lpwstr>
  </property>
  <property fmtid="{D5CDD505-2E9C-101B-9397-08002B2CF9AE}" pid="3" name="KSOProductBuildVer">
    <vt:lpwstr>1033-12.1.2.28080</vt:lpwstr>
  </property>
</Properties>
</file>